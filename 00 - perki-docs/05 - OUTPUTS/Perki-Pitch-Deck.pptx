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817EE9F-1F10-4E36-A558-7239B01DCFE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6289E-38E6-4101-852C-20B72FF8D6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8DC07-1CF0-41B5-8394-2355F112DD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0EB753-E958-4953-ADB9-1CC9FE6422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3BF404-1239-49DE-BBC3-BF76CEA286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741DFE-AE69-43EA-AC2D-6E95115A8E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EE42DA-EFA6-44C4-853D-B8E2D3D207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23BA08-2F8B-47C3-9953-03BF23D66F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1A3DE2-2624-4065-A4DB-1CF53C9E25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10875A-AE9A-44E4-830B-8C7D122378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C8239A-81E4-442E-A1A9-6B110C695B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2AE5CC-5C95-4B15-AE46-7B24C6E9AB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625887-E7DC-4B06-9843-9496AFE93E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CAF5D1-226E-46B4-9060-5A3D6EB157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perki-app.vercel.app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B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822960" y="77724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822960" y="233172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Outfit"/>
                <a:ea typeface="Outfit"/>
              </a:rPr>
              <a:t>Perki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868680" y="345636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0A93B"/>
                </a:solidFill>
                <a:effectLst/>
                <a:uFillTx/>
                <a:latin typeface="Outfit"/>
                <a:ea typeface="Outfit"/>
              </a:rPr>
              <a:t>The value you already pay for. Finally in one place.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868680" y="416052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FEAFB"/>
                </a:solidFill>
                <a:effectLst/>
                <a:uFillTx/>
                <a:latin typeface="Work Sans"/>
                <a:ea typeface="Work Sans"/>
              </a:rPr>
              <a:t>A personal inventory of every perk hidden inside your subscriptions and memberships, across every provider.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68680" y="60350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pc="201" strike="noStrike">
                <a:solidFill>
                  <a:srgbClr val="EFEAFB"/>
                </a:solidFill>
                <a:effectLst/>
                <a:uFillTx/>
                <a:latin typeface="Work Sans"/>
                <a:ea typeface="Work Sans"/>
              </a:rPr>
              <a:t>Investor overview ·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THE 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People pay for plenty. They use a fraction.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822960" y="1828800"/>
            <a:ext cx="56689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Subscriptions have piled up. The perks inside them sit unused, buried in apps and forgotten emails. People pay full price and leave the extras on the table.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6949440" y="1874520"/>
            <a:ext cx="4571640" cy="1325520"/>
          </a:xfrm>
          <a:prstGeom prst="roundRect">
            <a:avLst>
              <a:gd name="adj" fmla="val 6897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132320" y="198432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£786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9464040" y="2039040"/>
            <a:ext cx="1874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the average UK household spends on subscriptions a year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6949440" y="3355920"/>
            <a:ext cx="4571640" cy="1325520"/>
          </a:xfrm>
          <a:prstGeom prst="roundRect">
            <a:avLst>
              <a:gd name="adj" fmla="val 6897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8"/>
          <p:cNvSpPr/>
          <p:nvPr/>
        </p:nvSpPr>
        <p:spPr>
          <a:xfrm>
            <a:off x="7132320" y="346572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1 in 5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9464040" y="3520440"/>
            <a:ext cx="1874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pay for something they barely use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6949440" y="4837320"/>
            <a:ext cx="4571640" cy="1325520"/>
          </a:xfrm>
          <a:prstGeom prst="roundRect">
            <a:avLst>
              <a:gd name="adj" fmla="val 6897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7132320" y="494676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Most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9464040" y="5001840"/>
            <a:ext cx="1874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never claim the perks they are owed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822960" y="6263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Source: Aqua / Barclays UK subscription studies, 2025.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WHY NOW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The bill is rising, and so is the waste.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822960" y="2011680"/>
            <a:ext cx="3520080" cy="2377080"/>
          </a:xfrm>
          <a:prstGeom prst="roundRect">
            <a:avLst>
              <a:gd name="adj" fmla="val 3846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Text 4"/>
          <p:cNvSpPr/>
          <p:nvPr/>
        </p:nvSpPr>
        <p:spPr>
          <a:xfrm>
            <a:off x="1097280" y="233172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+57%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1097280" y="333756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growth in household subscription spend in three years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4544640" y="2011680"/>
            <a:ext cx="3520080" cy="2377080"/>
          </a:xfrm>
          <a:prstGeom prst="roundRect">
            <a:avLst>
              <a:gd name="adj" fmla="val 3846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Text 7"/>
          <p:cNvSpPr/>
          <p:nvPr/>
        </p:nvSpPr>
        <p:spPr>
          <a:xfrm>
            <a:off x="4818960" y="233172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£1.6bn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4818960" y="333756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lost a year to forgotten subscriptions, double 2019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8266320" y="2011680"/>
            <a:ext cx="3520080" cy="2377080"/>
          </a:xfrm>
          <a:prstGeom prst="roundRect">
            <a:avLst>
              <a:gd name="adj" fmla="val 3846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8540640" y="233172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£688m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8540640" y="333756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wasted a year on subscriptions people do not use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822960" y="48006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A6E"/>
                </a:solidFill>
                <a:effectLst/>
                <a:uFillTx/>
                <a:latin typeface="Work Sans"/>
                <a:ea typeface="Work Sans"/>
              </a:rPr>
              <a:t>Shoppers watch every pound. Nobody shows them the value they already own. That gap is Perki.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822960" y="6263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Sources: Citizens Advice; Aqua / Barclays, 2025.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B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E0A93B"/>
                </a:solidFill>
                <a:effectLst/>
                <a:uFillTx/>
                <a:latin typeface="Outfit"/>
                <a:ea typeface="Outfit"/>
              </a:rPr>
              <a:t>THE INSIGHT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822960" y="2194560"/>
            <a:ext cx="10423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Outfit"/>
                <a:ea typeface="Outfit"/>
              </a:rPr>
              <a:t>Everyone helps you cancel.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Outfit"/>
                <a:ea typeface="Outfit"/>
              </a:rPr>
              <a:t>We help you cash in.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822960" y="4114800"/>
            <a:ext cx="9692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FEAFB"/>
                </a:solidFill>
                <a:effectLst/>
                <a:uFillTx/>
                <a:latin typeface="Work Sans"/>
                <a:ea typeface="Work Sans"/>
              </a:rPr>
              <a:t>The market is full of tools that find subscriptions to cut. Perki does the opposite. It shows you the perks you already pay for, so your money finally works.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FEAFB"/>
                </a:solidFill>
                <a:effectLst/>
                <a:uFillTx/>
                <a:latin typeface="Work Sans"/>
                <a:ea typeface="Work Sans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THE PRODUCT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822960" y="812160"/>
            <a:ext cx="10515240" cy="9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One clean inventory of everything you own and are owed.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822960" y="2331720"/>
            <a:ext cx="5257440" cy="1554120"/>
          </a:xfrm>
          <a:prstGeom prst="roundRect">
            <a:avLst>
              <a:gd name="adj" fmla="val 5882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5"/>
          <p:cNvSpPr/>
          <p:nvPr/>
        </p:nvSpPr>
        <p:spPr>
          <a:xfrm>
            <a:off x="1143000" y="2551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Everything in one place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1143000" y="304488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Features, perks, discounts and competitions across all your providers.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6355080" y="2331720"/>
            <a:ext cx="5257440" cy="1554120"/>
          </a:xfrm>
          <a:prstGeom prst="roundRect">
            <a:avLst>
              <a:gd name="adj" fmla="val 5882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8"/>
          <p:cNvSpPr/>
          <p:nvPr/>
        </p:nvSpPr>
        <p:spPr>
          <a:xfrm>
            <a:off x="6675120" y="2551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Tier-aware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6675120" y="304488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We show what is actually yours, matched to your exact plan.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822960" y="4114800"/>
            <a:ext cx="5257440" cy="1554120"/>
          </a:xfrm>
          <a:prstGeom prst="roundRect">
            <a:avLst>
              <a:gd name="adj" fmla="val 5882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1143000" y="4334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Never miss one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1143000" y="482796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Reminders before perks reset or expire, by email (weekly or daily) and app notifications.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6355080" y="4114800"/>
            <a:ext cx="5257440" cy="1554120"/>
          </a:xfrm>
          <a:prstGeom prst="roundRect">
            <a:avLst>
              <a:gd name="adj" fmla="val 5882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6675120" y="4334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Read-only and private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6675120" y="482796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Perki shows you value. It never moves or touches your money.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tatement"/>
          <p:cNvSpPr/>
          <p:nvPr/>
        </p:nvSpPr>
        <p:spPr>
          <a:xfrm>
            <a:off x="822960" y="1904040"/>
            <a:ext cx="10515240" cy="383760"/>
          </a:xfrm>
          <a:prstGeom prst="roundRect">
            <a:avLst>
              <a:gd name="adj" fmla="val 16667"/>
            </a:avLst>
          </a:prstGeom>
          <a:solidFill>
            <a:srgbClr val="F7ECD4"/>
          </a:solidFill>
          <a:ln w="12700">
            <a:solidFill>
              <a:srgbClr val="E0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2880" t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Perki is not an AI bot. It's an engagement driver.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HOW IT WORKS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Three taps to everything you are owed.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822960" y="2194560"/>
            <a:ext cx="3520080" cy="2468520"/>
          </a:xfrm>
          <a:prstGeom prst="roundRect">
            <a:avLst>
              <a:gd name="adj" fmla="val 3704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1115640" y="2468880"/>
            <a:ext cx="639720" cy="639720"/>
          </a:xfrm>
          <a:prstGeom prst="ellipse">
            <a:avLst/>
          </a:prstGeom>
          <a:solidFill>
            <a:srgbClr val="F7ECD4"/>
          </a:solidFill>
          <a:ln w="12700">
            <a:solidFill>
              <a:srgbClr val="E0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5"/>
          <p:cNvSpPr/>
          <p:nvPr/>
        </p:nvSpPr>
        <p:spPr>
          <a:xfrm>
            <a:off x="1115640" y="24688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115640" y="329184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Add your subscriptions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1115640" y="384048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Add the providers and memberships you already pay for.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4544640" y="2194560"/>
            <a:ext cx="3520080" cy="2468520"/>
          </a:xfrm>
          <a:prstGeom prst="roundRect">
            <a:avLst>
              <a:gd name="adj" fmla="val 3704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4837320" y="2468880"/>
            <a:ext cx="639720" cy="639720"/>
          </a:xfrm>
          <a:prstGeom prst="ellipse">
            <a:avLst/>
          </a:prstGeom>
          <a:solidFill>
            <a:srgbClr val="F7ECD4"/>
          </a:solidFill>
          <a:ln w="12700">
            <a:solidFill>
              <a:srgbClr val="E0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4837320" y="24688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4837320" y="329184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Perki maps your tier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4837320" y="384048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We match every perk to your exact plan. No noise.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8266320" y="2194560"/>
            <a:ext cx="3520080" cy="2468520"/>
          </a:xfrm>
          <a:prstGeom prst="roundRect">
            <a:avLst>
              <a:gd name="adj" fmla="val 3704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8558640" y="2468880"/>
            <a:ext cx="639720" cy="639720"/>
          </a:xfrm>
          <a:prstGeom prst="ellipse">
            <a:avLst/>
          </a:prstGeom>
          <a:solidFill>
            <a:srgbClr val="F7ECD4"/>
          </a:solidFill>
          <a:ln w="12700">
            <a:solidFill>
              <a:srgbClr val="E0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8558640" y="24688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8558640" y="329184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Claim and track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8558640" y="384048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Claim it, track it, and never miss a reset.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THE EXPERIENCE · 1 OF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A marketplace to explore.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822960" y="178308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A comparison site for the perks inside everything you pay for. Search every provider and every tier in one place.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822960" y="2743200"/>
            <a:ext cx="6583320" cy="3017160"/>
          </a:xfrm>
          <a:prstGeom prst="roundRect">
            <a:avLst>
              <a:gd name="adj" fmla="val 3030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 5"/>
          <p:cNvSpPr/>
          <p:nvPr/>
        </p:nvSpPr>
        <p:spPr>
          <a:xfrm>
            <a:off x="1143000" y="297180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No account needed.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1143000" y="3520440"/>
            <a:ext cx="603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Anyone can browse the full library before they sign up. Think Martin Lewis or a price comparison site.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1143000" y="4572000"/>
            <a:ext cx="6034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3202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Every provider and tier, in one library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3202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Every perk priced and categorised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3202A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Find the cheapest tier a perk lives 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7635240" y="2743200"/>
            <a:ext cx="3702960" cy="3017160"/>
          </a:xfrm>
          <a:prstGeom prst="roundRect">
            <a:avLst>
              <a:gd name="adj" fmla="val 3030"/>
            </a:avLst>
          </a:prstGeom>
          <a:solidFill>
            <a:srgbClr val="2B2A6E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9"/>
          <p:cNvSpPr/>
          <p:nvPr/>
        </p:nvSpPr>
        <p:spPr>
          <a:xfrm>
            <a:off x="7909560" y="301752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0A93B"/>
                </a:solidFill>
                <a:effectLst/>
                <a:uFillTx/>
                <a:latin typeface="Outfit"/>
                <a:ea typeface="Outfit"/>
              </a:rPr>
              <a:t>Open to everyone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7909560" y="3566160"/>
            <a:ext cx="3200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FEAFB"/>
                </a:solidFill>
                <a:effectLst/>
                <a:uFillTx/>
                <a:latin typeface="Work Sans"/>
                <a:ea typeface="Work Sans"/>
              </a:rPr>
              <a:t>A public library anyone can search, not just members. Free and open, it is the top of the funnel that pulls people in before they ever create an account.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THE EXPERIENCE · 2 OF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A profile that pays you back.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822960" y="178308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Sign in and Perki gets personal. It tracks your memberships, your active and inactive perks, and the value you have claimed.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822960" y="2743200"/>
            <a:ext cx="5257440" cy="1325520"/>
          </a:xfrm>
          <a:prstGeom prst="roundRect">
            <a:avLst>
              <a:gd name="adj" fmla="val 6897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1143000" y="29260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Your memberships and monthly cost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1143000" y="340164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Everything you pay for, totted up in one number.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6355080" y="2743200"/>
            <a:ext cx="5257440" cy="1325520"/>
          </a:xfrm>
          <a:prstGeom prst="roundRect">
            <a:avLst>
              <a:gd name="adj" fmla="val 6897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6675120" y="292608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Active vs inactive at a glance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6675120" y="340164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See what you use and what you are missing.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822960" y="4251960"/>
            <a:ext cx="5257440" cy="1325520"/>
          </a:xfrm>
          <a:prstGeom prst="roundRect">
            <a:avLst>
              <a:gd name="adj" fmla="val 6897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1143000" y="44348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Mark as used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1143000" y="491040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Track the value you claim over time.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6355080" y="4251960"/>
            <a:ext cx="5257440" cy="1325520"/>
          </a:xfrm>
          <a:prstGeom prst="roundRect">
            <a:avLst>
              <a:gd name="adj" fmla="val 6897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6675120" y="44348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Unclaimed value, falling to zero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6675120" y="491040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A running score of money still on the table.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548640" y="4114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000" b="1" u="none" strike="noStrike">
                <a:solidFill>
                  <a:srgbClr val="23202A"/>
                </a:solidFill>
                <a:effectLst/>
                <a:uFillTx/>
                <a:latin typeface="Outfit"/>
              </a:rPr>
              <a:t>See it in action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54864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Your daily 7am email, generated from your live perks.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3" descr="Screenshot 2026-06-09 173939.png"/>
          <p:cNvPicPr/>
          <p:nvPr/>
        </p:nvPicPr>
        <p:blipFill>
          <a:blip r:embed="rId1"/>
          <a:stretch/>
        </p:blipFill>
        <p:spPr>
          <a:xfrm>
            <a:off x="686520" y="1627560"/>
            <a:ext cx="3147840" cy="3154320"/>
          </a:xfrm>
          <a:prstGeom prst="rect">
            <a:avLst/>
          </a:prstGeom>
          <a:noFill/>
          <a:ln w="12700">
            <a:solidFill>
              <a:srgbClr val="E4DDCB"/>
            </a:solidFill>
            <a:round/>
          </a:ln>
        </p:spPr>
      </p:pic>
      <p:sp>
        <p:nvSpPr>
          <p:cNvPr id="117" name="TextBox 4"/>
          <p:cNvSpPr/>
          <p:nvPr/>
        </p:nvSpPr>
        <p:spPr>
          <a:xfrm>
            <a:off x="548640" y="4910400"/>
            <a:ext cx="3423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The morning digest opens with your value at a glance: perks ready, what you have used, and your active memberships.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5" descr="Screenshot 2026-06-09 174201.png"/>
          <p:cNvPicPr/>
          <p:nvPr/>
        </p:nvPicPr>
        <p:blipFill>
          <a:blip r:embed="rId2"/>
          <a:stretch/>
        </p:blipFill>
        <p:spPr>
          <a:xfrm>
            <a:off x="4655880" y="1627560"/>
            <a:ext cx="2880000" cy="3154320"/>
          </a:xfrm>
          <a:prstGeom prst="rect">
            <a:avLst/>
          </a:prstGeom>
          <a:noFill/>
          <a:ln w="12700">
            <a:solidFill>
              <a:srgbClr val="E4DDCB"/>
            </a:solidFill>
            <a:round/>
          </a:ln>
        </p:spPr>
      </p:pic>
      <p:sp>
        <p:nvSpPr>
          <p:cNvPr id="119" name="TextBox 6"/>
          <p:cNvSpPr/>
          <p:nvPr/>
        </p:nvSpPr>
        <p:spPr>
          <a:xfrm>
            <a:off x="4384080" y="4910400"/>
            <a:ext cx="3423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What to use today: time-sensitive perks with one-tap deep links, plus category shortcuts into the marketplace.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7" descr="Screenshot 2026-06-09 174232.png"/>
          <p:cNvPicPr/>
          <p:nvPr/>
        </p:nvPicPr>
        <p:blipFill>
          <a:blip r:embed="rId3"/>
          <a:stretch/>
        </p:blipFill>
        <p:spPr>
          <a:xfrm>
            <a:off x="8365680" y="1627560"/>
            <a:ext cx="3130200" cy="3154320"/>
          </a:xfrm>
          <a:prstGeom prst="rect">
            <a:avLst/>
          </a:prstGeom>
          <a:noFill/>
          <a:ln w="12700">
            <a:solidFill>
              <a:srgbClr val="E4DDCB"/>
            </a:solidFill>
            <a:round/>
          </a:ln>
        </p:spPr>
      </p:pic>
      <p:sp>
        <p:nvSpPr>
          <p:cNvPr id="121" name="TextBox 8"/>
          <p:cNvSpPr/>
          <p:nvPr/>
        </p:nvSpPr>
        <p:spPr>
          <a:xfrm>
            <a:off x="8219160" y="4910400"/>
            <a:ext cx="3423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All your perks by category, each tagged Perk, Feature or Discount, with reset dates.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9"/>
          <p:cNvSpPr/>
          <p:nvPr/>
        </p:nvSpPr>
        <p:spPr>
          <a:xfrm>
            <a:off x="548640" y="5989320"/>
            <a:ext cx="11094120" cy="621360"/>
          </a:xfrm>
          <a:prstGeom prst="roundRect">
            <a:avLst>
              <a:gd name="adj" fmla="val 16667"/>
            </a:avLst>
          </a:prstGeom>
          <a:solidFill>
            <a:srgbClr val="F7ECD4"/>
          </a:solidFill>
          <a:ln w="12700">
            <a:solidFill>
              <a:srgbClr val="E0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B07C1A"/>
                </a:solidFill>
                <a:effectLst/>
                <a:uFillTx/>
                <a:latin typeface="Outfit"/>
              </a:rPr>
              <a:t>Perki app · shown on the next slide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548640" y="4114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000" b="1" u="none" strike="noStrike">
                <a:solidFill>
                  <a:srgbClr val="23202A"/>
                </a:solidFill>
                <a:effectLst/>
                <a:uFillTx/>
                <a:latin typeface="Outfit"/>
              </a:rPr>
              <a:t>Inside the app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548640" y="10058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Home, marketplace and profile, in your hand.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Picture 3" descr="WhatsApp Image 2026-06-09 at 21.50.29.jpeg"/>
          <p:cNvPicPr/>
          <p:nvPr/>
        </p:nvPicPr>
        <p:blipFill>
          <a:blip r:embed="rId1"/>
          <a:stretch/>
        </p:blipFill>
        <p:spPr>
          <a:xfrm>
            <a:off x="556200" y="1874520"/>
            <a:ext cx="2057040" cy="2938680"/>
          </a:xfrm>
          <a:prstGeom prst="rect">
            <a:avLst/>
          </a:prstGeom>
          <a:noFill/>
          <a:ln w="12700">
            <a:solidFill>
              <a:srgbClr val="E4DDCB"/>
            </a:solidFill>
            <a:round/>
          </a:ln>
        </p:spPr>
      </p:pic>
      <p:sp>
        <p:nvSpPr>
          <p:cNvPr id="126" name="TextBox 4"/>
          <p:cNvSpPr/>
          <p:nvPr/>
        </p:nvSpPr>
        <p:spPr>
          <a:xfrm>
            <a:off x="502920" y="5285160"/>
            <a:ext cx="2163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5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Home: every perk you hold, in a tappable grid.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5" descr="WhatsApp Image 2026-06-09 at 21.50.30.jpeg"/>
          <p:cNvPicPr/>
          <p:nvPr/>
        </p:nvPicPr>
        <p:blipFill>
          <a:blip r:embed="rId2"/>
          <a:stretch/>
        </p:blipFill>
        <p:spPr>
          <a:xfrm>
            <a:off x="2865600" y="1874520"/>
            <a:ext cx="1949400" cy="3245760"/>
          </a:xfrm>
          <a:prstGeom prst="rect">
            <a:avLst/>
          </a:prstGeom>
          <a:noFill/>
          <a:ln w="12700">
            <a:solidFill>
              <a:srgbClr val="E4DDCB"/>
            </a:solidFill>
            <a:round/>
          </a:ln>
        </p:spPr>
      </p:pic>
      <p:sp>
        <p:nvSpPr>
          <p:cNvPr id="128" name="TextBox 6"/>
          <p:cNvSpPr/>
          <p:nvPr/>
        </p:nvSpPr>
        <p:spPr>
          <a:xfrm>
            <a:off x="2758320" y="5285160"/>
            <a:ext cx="2163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5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Marketplace: every perk, filtered by membership, tier and category.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7" descr="WhatsApp Image 2026-06-09 at 21.50.30 (1).jpeg"/>
          <p:cNvPicPr/>
          <p:nvPr/>
        </p:nvPicPr>
        <p:blipFill>
          <a:blip r:embed="rId3"/>
          <a:stretch/>
        </p:blipFill>
        <p:spPr>
          <a:xfrm>
            <a:off x="5067000" y="1874520"/>
            <a:ext cx="2057040" cy="3096360"/>
          </a:xfrm>
          <a:prstGeom prst="rect">
            <a:avLst/>
          </a:prstGeom>
          <a:noFill/>
          <a:ln w="12700">
            <a:solidFill>
              <a:srgbClr val="E4DDCB"/>
            </a:solidFill>
            <a:round/>
          </a:ln>
        </p:spPr>
      </p:pic>
      <p:sp>
        <p:nvSpPr>
          <p:cNvPr id="130" name="TextBox 8"/>
          <p:cNvSpPr/>
          <p:nvPr/>
        </p:nvSpPr>
        <p:spPr>
          <a:xfrm>
            <a:off x="5013720" y="5285160"/>
            <a:ext cx="2163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5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Profile: your value at a glance, with the monthly cost.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9" descr="WhatsApp Image 2026-06-09 at 21.50.30 (2).jpeg"/>
          <p:cNvPicPr/>
          <p:nvPr/>
        </p:nvPicPr>
        <p:blipFill>
          <a:blip r:embed="rId4"/>
          <a:stretch/>
        </p:blipFill>
        <p:spPr>
          <a:xfrm>
            <a:off x="7520400" y="1874520"/>
            <a:ext cx="1661400" cy="3245760"/>
          </a:xfrm>
          <a:prstGeom prst="rect">
            <a:avLst/>
          </a:prstGeom>
          <a:noFill/>
          <a:ln w="12700">
            <a:solidFill>
              <a:srgbClr val="E4DDCB"/>
            </a:solidFill>
            <a:round/>
          </a:ln>
        </p:spPr>
      </p:pic>
      <p:sp>
        <p:nvSpPr>
          <p:cNvPr id="132" name="TextBox 10"/>
          <p:cNvSpPr/>
          <p:nvPr/>
        </p:nvSpPr>
        <p:spPr>
          <a:xfrm>
            <a:off x="7269120" y="5285160"/>
            <a:ext cx="2163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5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Active memberships by provider and tier, plus upgrade tiers.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11" descr="WhatsApp Image 2026-06-09 at 21.50.30 (3).jpeg"/>
          <p:cNvPicPr/>
          <p:nvPr/>
        </p:nvPicPr>
        <p:blipFill>
          <a:blip r:embed="rId5"/>
          <a:stretch/>
        </p:blipFill>
        <p:spPr>
          <a:xfrm>
            <a:off x="9648000" y="1874520"/>
            <a:ext cx="1917000" cy="3245760"/>
          </a:xfrm>
          <a:prstGeom prst="rect">
            <a:avLst/>
          </a:prstGeom>
          <a:noFill/>
          <a:ln w="12700">
            <a:solidFill>
              <a:srgbClr val="E4DDCB"/>
            </a:solidFill>
            <a:round/>
          </a:ln>
        </p:spPr>
      </p:pic>
      <p:sp>
        <p:nvSpPr>
          <p:cNvPr id="134" name="TextBox 12"/>
          <p:cNvSpPr/>
          <p:nvPr/>
        </p:nvSpPr>
        <p:spPr>
          <a:xfrm>
            <a:off x="9524880" y="5285160"/>
            <a:ext cx="2163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95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The active and inactive split, in plain language.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WHY PERKI WINS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Nobody offers a cross-provider perk inventory.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822960" y="2011680"/>
            <a:ext cx="10515240" cy="1005480"/>
          </a:xfrm>
          <a:prstGeom prst="roundRect">
            <a:avLst>
              <a:gd name="adj" fmla="val 9091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1143000" y="215784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Bank &amp; card perks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4023360" y="21578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Monzo, Revolut, Amex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6583680" y="215784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Only their own perks. One bank, one silo.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7"/>
          <p:cNvSpPr/>
          <p:nvPr/>
        </p:nvSpPr>
        <p:spPr>
          <a:xfrm>
            <a:off x="822960" y="3173040"/>
            <a:ext cx="10515240" cy="1005480"/>
          </a:xfrm>
          <a:prstGeom prst="roundRect">
            <a:avLst>
              <a:gd name="adj" fmla="val 9091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143000" y="331920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Cashback &amp; coupons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4023360" y="331920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Honey, TopCashback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0"/>
          <p:cNvSpPr/>
          <p:nvPr/>
        </p:nvSpPr>
        <p:spPr>
          <a:xfrm>
            <a:off x="6583680" y="331920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New discounts at checkout. Not what you already own.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822960" y="4334400"/>
            <a:ext cx="10515240" cy="1005480"/>
          </a:xfrm>
          <a:prstGeom prst="roundRect">
            <a:avLst>
              <a:gd name="adj" fmla="val 9091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1143000" y="448056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Cancellation apps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4023360" y="44805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Emma, Rocket Money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6583680" y="448056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They help you spend less. We help you use more.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822960" y="56235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Perki is the only one that pulls every provider into one personal view of value you can act 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BUSINESS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Free for users. We earn from the marketplace.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1" descr="preencoded.png"/>
          <p:cNvPicPr/>
          <p:nvPr/>
        </p:nvPicPr>
        <p:blipFill>
          <a:blip r:embed="rId2"/>
          <a:stretch/>
        </p:blipFill>
        <p:spPr>
          <a:xfrm>
            <a:off x="2578680" y="1783080"/>
            <a:ext cx="7040520" cy="494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WHERE WE 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Built, branded, and live.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822960" y="1965960"/>
            <a:ext cx="5257440" cy="1691280"/>
          </a:xfrm>
          <a:prstGeom prst="roundRect">
            <a:avLst>
              <a:gd name="adj" fmla="val 5405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1143000" y="218556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Live product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1143000" y="267912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A mobile-first web app with a marketplace, profiles, and perk tracking.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6"/>
          <p:cNvSpPr/>
          <p:nvPr/>
        </p:nvSpPr>
        <p:spPr>
          <a:xfrm>
            <a:off x="6355080" y="1965960"/>
            <a:ext cx="5257440" cy="1691280"/>
          </a:xfrm>
          <a:prstGeom prst="roundRect">
            <a:avLst>
              <a:gd name="adj" fmla="val 5405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675120" y="218556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288 perks catalogued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6675120" y="267912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Across Monzo, Revolut, Sky and OVO, validated and tier-accurate.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>
            <a:off x="822960" y="3840480"/>
            <a:ext cx="5257440" cy="1691280"/>
          </a:xfrm>
          <a:prstGeom prst="roundRect">
            <a:avLst>
              <a:gd name="adj" fmla="val 5405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1143000" y="406008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Real data backend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1143000" y="455364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A Supabase catalogue holding memberships and per-user perk state.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6355080" y="3840480"/>
            <a:ext cx="5257440" cy="1691280"/>
          </a:xfrm>
          <a:prstGeom prst="roundRect">
            <a:avLst>
              <a:gd name="adj" fmla="val 5405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6675120" y="406008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Full brand and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4"/>
          <p:cNvSpPr/>
          <p:nvPr/>
        </p:nvSpPr>
        <p:spPr>
          <a:xfrm>
            <a:off x="6675120" y="4553640"/>
            <a:ext cx="4663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Identity, logo, design system and voice, ready to scale.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7"/>
          <p:cNvSpPr/>
          <p:nvPr/>
        </p:nvSpPr>
        <p:spPr>
          <a:xfrm>
            <a:off x="822960" y="56692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6B6757"/>
                </a:solidFill>
                <a:effectLst/>
                <a:uFillTx/>
                <a:latin typeface="Work Sans"/>
              </a:rPr>
              <a:t>Live now at </a:t>
            </a:r>
            <a:r>
              <a:rPr lang="en-US" sz="1300" b="1" u="sng" strike="noStrike">
                <a:solidFill>
                  <a:srgbClr val="0563C1"/>
                </a:solidFill>
                <a:effectLst/>
                <a:uFillTx/>
                <a:latin typeface="Work Sans"/>
                <a:hlinkClick r:id="rId2"/>
              </a:rPr>
              <a:t>perki-app.vercel.app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ROADMAP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From inventory to marketplace.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822960" y="2194560"/>
            <a:ext cx="3520080" cy="2468520"/>
          </a:xfrm>
          <a:prstGeom prst="roundRect">
            <a:avLst>
              <a:gd name="adj" fmla="val 3704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1115640" y="24688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Now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1115640" y="3063240"/>
            <a:ext cx="2971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Deepen the catalogue. Add as many brands and tiers as possible to strengthen the MVP.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4544640" y="2194560"/>
            <a:ext cx="3520080" cy="2468520"/>
          </a:xfrm>
          <a:prstGeom prst="roundRect">
            <a:avLst>
              <a:gd name="adj" fmla="val 3704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4837320" y="24688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4837320" y="3063240"/>
            <a:ext cx="2971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Test with friends across the website, app, and email blast. Sharpen the core loop on real users.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>
            <a:off x="8266320" y="2194560"/>
            <a:ext cx="3520080" cy="2468520"/>
          </a:xfrm>
          <a:prstGeom prst="roundRect">
            <a:avLst>
              <a:gd name="adj" fmla="val 3704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8558640" y="24688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Later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8558640" y="3063240"/>
            <a:ext cx="2971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A partner portal and API so companies can integrate their perks directly.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822960" y="5670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B07C1A"/>
                </a:solidFill>
                <a:effectLst/>
                <a:uFillTx/>
                <a:latin typeface="Outfit"/>
                <a:ea typeface="Outfit"/>
              </a:rPr>
              <a:t>TEAM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822960" y="8686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23202A"/>
                </a:solidFill>
                <a:effectLst/>
                <a:uFillTx/>
                <a:latin typeface="Outfit"/>
                <a:ea typeface="Outfit"/>
              </a:rPr>
              <a:t>Commercial, technical, shipping.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0" descr="preencoded.png"/>
          <p:cNvPicPr/>
          <p:nvPr/>
        </p:nvPicPr>
        <p:blipFill>
          <a:blip r:embed="rId1"/>
          <a:stretch/>
        </p:blipFill>
        <p:spPr>
          <a:xfrm>
            <a:off x="11292840" y="45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2"/>
          <p:cNvSpPr/>
          <p:nvPr/>
        </p:nvSpPr>
        <p:spPr>
          <a:xfrm>
            <a:off x="1133856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6757"/>
                </a:solidFill>
                <a:effectLst/>
                <a:uFillTx/>
                <a:latin typeface="Work Sans"/>
                <a:ea typeface="Work Sans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822960" y="2011680"/>
            <a:ext cx="10515240" cy="2011320"/>
          </a:xfrm>
          <a:prstGeom prst="roundRect">
            <a:avLst>
              <a:gd name="adj" fmla="val 4545"/>
            </a:avLst>
          </a:prstGeom>
          <a:solidFill>
            <a:srgbClr val="FCFAF4"/>
          </a:solidFill>
          <a:ln w="12700">
            <a:solidFill>
              <a:srgbClr val="E4DDCB"/>
            </a:solidFill>
            <a:round/>
          </a:ln>
          <a:effectLst>
            <a:outerShdw algn="bl" blurRad="11448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1143000" y="2331720"/>
            <a:ext cx="1371240" cy="1371240"/>
          </a:xfrm>
          <a:prstGeom prst="ellipse">
            <a:avLst/>
          </a:prstGeom>
          <a:solidFill>
            <a:srgbClr val="2B2A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1143000" y="2331720"/>
            <a:ext cx="137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0A93B"/>
                </a:solidFill>
                <a:effectLst/>
                <a:uFillTx/>
                <a:latin typeface="Outfit"/>
                <a:ea typeface="Outfit"/>
              </a:rPr>
              <a:t>OG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2834640" y="246888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B2A6E"/>
                </a:solidFill>
                <a:effectLst/>
                <a:uFillTx/>
                <a:latin typeface="Outfit"/>
                <a:ea typeface="Outfit"/>
              </a:rPr>
              <a:t>Ollie Glanville · Founder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2834640" y="2971800"/>
            <a:ext cx="8137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Commercially-minded operator working across strategy, data and product. Turns messy problems into clear plans and lightweight systems that scale.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822960" y="43434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B2A6E"/>
                </a:solidFill>
                <a:effectLst/>
                <a:uFillTx/>
                <a:latin typeface="Work Sans"/>
                <a:ea typeface="Work Sans"/>
              </a:rPr>
              <a:t>Hiring next:  </a:t>
            </a:r>
            <a:r>
              <a:rPr lang="en-US" sz="1450" b="0" u="none" strike="noStrike">
                <a:solidFill>
                  <a:srgbClr val="23202A"/>
                </a:solidFill>
                <a:effectLst/>
                <a:uFillTx/>
                <a:latin typeface="Work Sans"/>
                <a:ea typeface="Work Sans"/>
              </a:rPr>
              <a:t>Technical lead to build API capability.   Analyst to expand the catalogue.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1"/>
          <p:cNvSpPr/>
          <p:nvPr/>
        </p:nvSpPr>
        <p:spPr>
          <a:xfrm>
            <a:off x="822960" y="498348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B07C1A"/>
                </a:solidFill>
                <a:effectLst/>
                <a:uFillTx/>
                <a:latin typeface="Outfit"/>
              </a:rPr>
              <a:t>THE ORIGIN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822960" y="5285160"/>
            <a:ext cx="10515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23202A"/>
                </a:solidFill>
                <a:effectLst/>
                <a:uFillTx/>
                <a:latin typeface="Work Sans"/>
              </a:rPr>
              <a:t>Perki began at an airport gate, hunting through a jumble of memberships, cards and perks to work out which lounge I could actually use. Bouncing between apps, emails and websites to remember my tier and what I was owed, it struck me as absurd that nothing simply told me what I get. Tired and annoyed, that is where Perki was born: one place to see every perk, benefit, discount and feature you already pay for, and to make sure you actually use them.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B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4884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Outfit"/>
              </a:rPr>
              <a:t>Make every perk count.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2044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9E6F2"/>
                </a:solidFill>
                <a:latin typeface="Work Sans"/>
              </a:rPr>
              <a:t>Perki turns value people already pay for into value they actually use. We are building the layer that sits on top of every subscription you 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0A93B"/>
                </a:solidFill>
                <a:latin typeface="Work Sans"/>
              </a:rPr>
              <a:t>ollie_glanville@hotmail.co.uk   ·   perki-app.vercel.app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2026-06-04T10:31:41Z</dcterms:created>
  <dc:creator>Perki</dc:creator>
  <dc:description/>
  <dc:language>en-US</dc:language>
  <cp:lastModifiedBy>Perki</cp:lastModifiedBy>
  <dcterms:modified xsi:type="dcterms:W3CDTF">2026-06-04T10:31:41Z</dcterms:modified>
  <cp:revision>1</cp:revision>
  <dc:subject>PptxGenJS Presentation</dc:subject>
  <dc:title>Perki — Investor Deck v2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